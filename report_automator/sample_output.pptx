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75120" y="0"/>
            <a:ext cx="551383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0"/>
            <a:ext cx="64008" cy="6858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TELKOMSEL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FFCCCC"/>
                </a:solidFill>
                <a:latin typeface="Calibri"/>
              </a:rPr>
              <a:t>The Biggest &amp; Most Innovative Digital Telco of Indonesia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303520" cy="4572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Tracking Activity NOP Bandung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CCCC"/>
                </a:solidFill>
                <a:latin typeface="Calibri"/>
              </a:rPr>
              <a:t>Divisi Network Operation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914400"/>
            <a:ext cx="457200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978408"/>
            <a:ext cx="4389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▶  LAPORAN RESMI — INTERNAL USE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508760"/>
            <a:ext cx="4937760" cy="658368"/>
          </a:xfrm>
          <a:prstGeom prst="rect">
            <a:avLst/>
          </a:prstGeom>
          <a:solidFill>
            <a:srgbClr val="25254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4304" y="1572768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CC"/>
                </a:solidFill>
                <a:latin typeface="Calibri"/>
              </a:rPr>
              <a:t>📅  Tanggal Laporan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1810512"/>
            <a:ext cx="4663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28 Mei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2276856"/>
            <a:ext cx="4937760" cy="658368"/>
          </a:xfrm>
          <a:prstGeom prst="rect">
            <a:avLst/>
          </a:prstGeom>
          <a:solidFill>
            <a:srgbClr val="25254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4304" y="2340863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CC"/>
                </a:solidFill>
                <a:latin typeface="Calibri"/>
              </a:rPr>
              <a:t>👤  Disusun Oleh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2578608"/>
            <a:ext cx="4663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Tim Network Operation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3044951"/>
            <a:ext cx="4937760" cy="658368"/>
          </a:xfrm>
          <a:prstGeom prst="rect">
            <a:avLst/>
          </a:prstGeom>
          <a:solidFill>
            <a:srgbClr val="25254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4304" y="3108959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CC"/>
                </a:solidFill>
                <a:latin typeface="Calibri"/>
              </a:rPr>
              <a:t>🏢  Unit Kerja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4" y="3346703"/>
            <a:ext cx="4663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Divisi Network Operation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3813048"/>
            <a:ext cx="4937760" cy="658368"/>
          </a:xfrm>
          <a:prstGeom prst="rect">
            <a:avLst/>
          </a:prstGeom>
          <a:solidFill>
            <a:srgbClr val="25254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4304" y="3877056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CC"/>
                </a:solidFill>
                <a:latin typeface="Calibri"/>
              </a:rPr>
              <a:t>📊  Jenis Laporan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4304" y="4114800"/>
            <a:ext cx="4663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Coverage Activity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6236208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3333"/>
                </a:solidFill>
                <a:latin typeface="Calibri"/>
              </a:rPr>
              <a:t>RAHASIA — TIDAK UNTUK DISEBARLUASKAN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"/>
            <a:ext cx="12188952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457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Red Coverage Kec Sukasari | Install EM Under BDG212 SETRAMURNI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54864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 i="1">
                <a:solidFill>
                  <a:srgbClr val="CC0000"/>
                </a:solidFill>
                <a:latin typeface="Times New Roman"/>
              </a:rPr>
              <a:t>Telkomsel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12188952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521208"/>
            <a:ext cx="11887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1">
                <a:solidFill>
                  <a:srgbClr val="FFC400"/>
                </a:solidFill>
                <a:latin typeface="Calibri"/>
              </a:rPr>
              <a:t>[Bandung]  Purpose Easy macro 9 Meter -6.869313, 107.578078</a:t>
            </a:r>
          </a:p>
        </p:txBody>
      </p:sp>
      <p:sp>
        <p:nvSpPr>
          <p:cNvPr id="9" name="Rectangle 8"/>
          <p:cNvSpPr/>
          <p:nvPr/>
        </p:nvSpPr>
        <p:spPr>
          <a:xfrm>
            <a:off x="4142232" y="749808"/>
            <a:ext cx="27432" cy="590702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88552" y="749808"/>
            <a:ext cx="27432" cy="590702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3394252"/>
            <a:ext cx="4846320" cy="274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" y="781812"/>
            <a:ext cx="228600" cy="228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781812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781812"/>
            <a:ext cx="3840480" cy="228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800100"/>
            <a:ext cx="3794759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" y="1010412"/>
            <a:ext cx="4069080" cy="11109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" y="1037844"/>
            <a:ext cx="3959352" cy="1065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750" b="0">
                <a:solidFill>
                  <a:srgbClr val="000000"/>
                </a:solidFill>
                <a:latin typeface="Calibri"/>
              </a:rPr>
              <a:t>• Nearest Site is BDG212_SETRAMURNI-DMT with distance 500M</a:t>
            </a:r>
          </a:p>
          <a:p>
            <a:pPr algn="l">
              <a:spcBef>
                <a:spcPts val="100"/>
              </a:spcBef>
            </a:pPr>
            <a:r>
              <a:rPr sz="750" b="0">
                <a:solidFill>
                  <a:srgbClr val="000000"/>
                </a:solidFill>
                <a:latin typeface="Calibri"/>
              </a:rPr>
              <a:t>• From BDG212 to Red Coverage Spot have descending contour</a:t>
            </a:r>
          </a:p>
          <a:p>
            <a:pPr algn="l">
              <a:spcBef>
                <a:spcPts val="100"/>
              </a:spcBef>
            </a:pPr>
            <a:r>
              <a:rPr sz="750" b="0">
                <a:solidFill>
                  <a:srgbClr val="000000"/>
                </a:solidFill>
                <a:latin typeface="Calibri"/>
              </a:rPr>
              <a:t>• From Global Mapper simulation, some area cannot cover due to blocking issue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" y="2185416"/>
            <a:ext cx="228600" cy="228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" y="218541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85416"/>
            <a:ext cx="3840480" cy="228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203704"/>
            <a:ext cx="3794759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PLAN 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" y="2414016"/>
            <a:ext cx="4069080" cy="370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2441448"/>
            <a:ext cx="3959352" cy="324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00000"/>
                </a:solidFill>
                <a:latin typeface="Calibri"/>
              </a:rPr>
              <a:t>Propose Easy Macro 9 m -6.869313, 107.578078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" y="2848356"/>
            <a:ext cx="228600" cy="228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" y="284835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848356"/>
            <a:ext cx="3840480" cy="228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66644"/>
            <a:ext cx="3794759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SUPPORT NEEDED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" y="3076956"/>
            <a:ext cx="406908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3104388"/>
            <a:ext cx="395935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750" b="0">
                <a:solidFill>
                  <a:srgbClr val="000000"/>
                </a:solidFill>
                <a:latin typeface="Calibri"/>
              </a:rPr>
              <a:t>• Material AAU dual Band</a:t>
            </a:r>
          </a:p>
          <a:p>
            <a:pPr algn="l">
              <a:spcBef>
                <a:spcPts val="100"/>
              </a:spcBef>
            </a:pPr>
            <a:r>
              <a:rPr sz="750" b="0">
                <a:solidFill>
                  <a:srgbClr val="000000"/>
                </a:solidFill>
                <a:latin typeface="Calibri"/>
              </a:rPr>
              <a:t>• Kabel Power + KWH</a:t>
            </a:r>
          </a:p>
          <a:p>
            <a:pPr algn="l">
              <a:spcBef>
                <a:spcPts val="100"/>
              </a:spcBef>
            </a:pPr>
            <a:r>
              <a:rPr sz="750" b="0">
                <a:solidFill>
                  <a:srgbClr val="000000"/>
                </a:solidFill>
                <a:latin typeface="Calibri"/>
              </a:rPr>
              <a:t>• Tiang Telom 9 m</a:t>
            </a:r>
          </a:p>
          <a:p>
            <a:pPr algn="l">
              <a:spcBef>
                <a:spcPts val="100"/>
              </a:spcBef>
            </a:pPr>
            <a:r>
              <a:rPr sz="750" b="0">
                <a:solidFill>
                  <a:srgbClr val="000000"/>
                </a:solidFill>
                <a:latin typeface="Calibri"/>
              </a:rPr>
              <a:t>• Installation &amp; integration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" y="4622292"/>
            <a:ext cx="228600" cy="228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" y="4622292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622292"/>
            <a:ext cx="3840480" cy="228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640580"/>
            <a:ext cx="3794759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GOALS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" y="4850892"/>
            <a:ext cx="4069080" cy="740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" y="4878324"/>
            <a:ext cx="395935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750" b="0">
                <a:solidFill>
                  <a:srgbClr val="000000"/>
                </a:solidFill>
                <a:latin typeface="Calibri"/>
              </a:rPr>
              <a:t>• Improvement payload &amp; Revenue area perumahan Setramurni</a:t>
            </a:r>
          </a:p>
          <a:p>
            <a:pPr algn="l">
              <a:spcBef>
                <a:spcPts val="100"/>
              </a:spcBef>
            </a:pPr>
            <a:r>
              <a:rPr sz="750" b="0">
                <a:solidFill>
                  <a:srgbClr val="000000"/>
                </a:solidFill>
                <a:latin typeface="Calibri"/>
              </a:rPr>
              <a:t>• Improvement Red Coverage Kec Sukasari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" y="5655564"/>
            <a:ext cx="228600" cy="228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" y="5655564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655564"/>
            <a:ext cx="3840480" cy="228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5673852"/>
            <a:ext cx="3794759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Increment Payload &amp; Revenue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" y="5884164"/>
            <a:ext cx="4069080" cy="740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" y="5911596"/>
            <a:ext cx="395935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750" b="0">
                <a:solidFill>
                  <a:srgbClr val="000000"/>
                </a:solidFill>
                <a:latin typeface="Calibri"/>
              </a:rPr>
              <a:t>• Payload: 300 GB (Monthly)</a:t>
            </a:r>
          </a:p>
          <a:p>
            <a:pPr algn="l">
              <a:spcBef>
                <a:spcPts val="100"/>
              </a:spcBef>
            </a:pPr>
            <a:r>
              <a:rPr sz="750" b="0">
                <a:solidFill>
                  <a:srgbClr val="000000"/>
                </a:solidFill>
                <a:latin typeface="Calibri"/>
              </a:rPr>
              <a:t>• Revneue: 30 Jt (Monthly)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749808"/>
            <a:ext cx="4846320" cy="59070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60520" y="749808"/>
            <a:ext cx="4846320" cy="21945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15383" y="768096"/>
            <a:ext cx="182880" cy="182879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15383" y="768096"/>
            <a:ext cx="18288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53127" y="777240"/>
            <a:ext cx="44988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PAYLOAD site Surrounding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0520" y="969264"/>
            <a:ext cx="4846320" cy="243870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3400" y="2005736"/>
            <a:ext cx="44805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1">
                <a:solidFill>
                  <a:srgbClr val="AAAAAA"/>
                </a:solidFill>
                <a:latin typeface="Calibri"/>
              </a:rPr>
              <a:t>[ Upload Payload Site Chart 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60520" y="3407968"/>
            <a:ext cx="4846320" cy="21945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15383" y="3426256"/>
            <a:ext cx="182880" cy="182879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15383" y="3426256"/>
            <a:ext cx="18288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53127" y="3435400"/>
            <a:ext cx="44988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MAPS Preview &amp; COVMO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60520" y="3627424"/>
            <a:ext cx="4846320" cy="302940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43400" y="4959248"/>
            <a:ext cx="44805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1">
                <a:solidFill>
                  <a:srgbClr val="AAAAAA"/>
                </a:solidFill>
                <a:latin typeface="Calibri"/>
              </a:rPr>
              <a:t>[ Upload Maps Preview &amp; COVMO 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06840" y="749808"/>
            <a:ext cx="3182112" cy="59070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06840" y="749808"/>
            <a:ext cx="3182112" cy="590702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89719" y="3520439"/>
            <a:ext cx="2816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1">
                <a:solidFill>
                  <a:srgbClr val="AAAAAA"/>
                </a:solidFill>
                <a:latin typeface="Calibri"/>
              </a:rPr>
              <a:t>[ Upload Support Images
(min 1, maks 3) ]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2880" y="6684264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AAAABB"/>
                </a:solidFill>
                <a:latin typeface="Calibri"/>
              </a:rPr>
              <a:t>PT. Telkomsel — Connecting Indonesia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6684264"/>
            <a:ext cx="2834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 i="0">
                <a:solidFill>
                  <a:srgbClr val="FF3333"/>
                </a:solidFill>
                <a:latin typeface="Calibri"/>
              </a:rPr>
              <a:t>SLIDE 2/3  ·  DOKUMEN 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0" y="0"/>
            <a:ext cx="651967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1848" y="0"/>
            <a:ext cx="64008" cy="6858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20040"/>
            <a:ext cx="4846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TELKOMSEL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14400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1">
                <a:solidFill>
                  <a:srgbClr val="FFCCCC"/>
                </a:solidFill>
                <a:latin typeface="Calibri"/>
              </a:rPr>
              <a:t>The Biggest &amp; Most Innovative Digital Telco of Indonesia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4572000" cy="4572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Terima kasih.
Laporan ini disusun secara otomatis menggunakan Telkomsel Report Automator berdasarkan data tracking activity operasional.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40480"/>
            <a:ext cx="49377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1">
                <a:solidFill>
                  <a:srgbClr val="FFC400"/>
                </a:solidFill>
                <a:latin typeface="Calibri"/>
              </a:rPr>
              <a:t>"Leading in Digital Connectivity"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0350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1">
                <a:solidFill>
                  <a:srgbClr val="FFCCCC"/>
                </a:solidFill>
                <a:latin typeface="Calibri"/>
              </a:rPr>
              <a:t>Dokumen ini bersifat RAHASIA. Hanya untuk keperluan internal PT. Telkomsel.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57200"/>
            <a:ext cx="5943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990000"/>
                </a:solidFill>
                <a:latin typeface="Calibri"/>
              </a:rPr>
              <a:t>Ringkasan Dokumen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005840"/>
            <a:ext cx="585216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188720"/>
            <a:ext cx="5943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1252728"/>
            <a:ext cx="5669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6B7B8D"/>
                </a:solidFill>
                <a:latin typeface="Calibri"/>
              </a:rPr>
              <a:t>Judul Laporan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1490472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Tracking Activity NOP Bandung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993392"/>
            <a:ext cx="5943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2057400"/>
            <a:ext cx="5669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6B7B8D"/>
                </a:solidFill>
                <a:latin typeface="Calibri"/>
              </a:rPr>
              <a:t>Tanggal Dikeluarkan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2295144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28 Mei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798064"/>
            <a:ext cx="5943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2862072"/>
            <a:ext cx="5669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6B7B8D"/>
                </a:solidFill>
                <a:latin typeface="Calibri"/>
              </a:rPr>
              <a:t>Disusun Oleh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3099816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Tim Network Operation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3602736"/>
            <a:ext cx="5943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3666744"/>
            <a:ext cx="5669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6B7B8D"/>
                </a:solidFill>
                <a:latin typeface="Calibri"/>
              </a:rPr>
              <a:t>Diklasifikasikan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3904487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RAHASIA — INTERNAL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407408"/>
            <a:ext cx="5943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3328" y="4471416"/>
            <a:ext cx="5669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6B7B8D"/>
                </a:solidFill>
                <a:latin typeface="Calibri"/>
              </a:rPr>
              <a:t>Dibuat Dengan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3328" y="470916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Telkomsel Report Automator v3.0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5212080"/>
            <a:ext cx="5943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53328" y="5276088"/>
            <a:ext cx="5669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 i="0">
                <a:solidFill>
                  <a:srgbClr val="6B7B8D"/>
                </a:solidFill>
                <a:latin typeface="Calibri"/>
              </a:rPr>
              <a:t>Total Slide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8" y="5513832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3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