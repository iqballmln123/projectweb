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75120" y="0"/>
            <a:ext cx="551383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56832" y="0"/>
            <a:ext cx="54864" cy="6858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TELKOMSEL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FFCCCC"/>
                </a:solidFill>
                <a:latin typeface="Calibri"/>
              </a:rPr>
              <a:t>Connecting Indonesia · 4G / 5G Network Excellence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029200" cy="4572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Test 2x2 Grid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CCCC"/>
                </a:solidFill>
                <a:latin typeface="Calibri"/>
              </a:rPr>
              <a:t>QA Build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914400"/>
            <a:ext cx="4114800" cy="4114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96012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▶  LAPORAN RESMI — INTERNAL USE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1554480"/>
            <a:ext cx="4937760" cy="640080"/>
          </a:xfrm>
          <a:prstGeom prst="rect">
            <a:avLst/>
          </a:prstGeom>
          <a:solidFill>
            <a:srgbClr val="25254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609344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CC"/>
                </a:solidFill>
                <a:latin typeface="Calibri"/>
              </a:rPr>
              <a:t>📅  Tanggal Laporan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847088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25 Mei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2304288"/>
            <a:ext cx="4937760" cy="640080"/>
          </a:xfrm>
          <a:prstGeom prst="rect">
            <a:avLst/>
          </a:prstGeom>
          <a:solidFill>
            <a:srgbClr val="25254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2359152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CC"/>
                </a:solidFill>
                <a:latin typeface="Calibri"/>
              </a:rPr>
              <a:t>👤  Disusun Oleh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596896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3054096"/>
            <a:ext cx="4937760" cy="640080"/>
          </a:xfrm>
          <a:prstGeom prst="rect">
            <a:avLst/>
          </a:prstGeom>
          <a:solidFill>
            <a:srgbClr val="25254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310896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CC"/>
                </a:solidFill>
                <a:latin typeface="Calibri"/>
              </a:rPr>
              <a:t>🏢  Unit Kerja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346703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QA Build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3803904"/>
            <a:ext cx="4937760" cy="640080"/>
          </a:xfrm>
          <a:prstGeom prst="rect">
            <a:avLst/>
          </a:prstGeom>
          <a:solidFill>
            <a:srgbClr val="252545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385876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CC"/>
                </a:solidFill>
                <a:latin typeface="Calibri"/>
              </a:rPr>
              <a:t>📊  Jenis Laporan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096512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Analisis Data Operasional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62179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3333"/>
                </a:solidFill>
                <a:latin typeface="Calibri"/>
              </a:rPr>
              <a:t>RAHASIA — TIDAK UNTUK DISEBARLUASKAN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BBBBCC"/>
                </a:solidFill>
                <a:latin typeface="Calibri"/>
              </a:rPr>
              <a:t>Test 2x2 Grid  ·  25 Mei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22860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 i="0">
                <a:solidFill>
                  <a:srgbClr val="FF3333"/>
                </a:solidFill>
                <a:latin typeface="Calibri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BB"/>
                </a:solidFill>
                <a:latin typeface="Calibri"/>
              </a:rPr>
              <a:t>PT. Telkomsel — Connecting Indonesia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56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 i="0">
                <a:solidFill>
                  <a:srgbClr val="FF3333"/>
                </a:solidFill>
                <a:latin typeface="Calibri"/>
              </a:rPr>
              <a:t>DOKUMEN INTERNAL — RAHASIA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89304"/>
            <a:ext cx="6858000" cy="55778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325880"/>
            <a:ext cx="347472" cy="3840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1353312"/>
            <a:ext cx="329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34416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Poin 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938528"/>
            <a:ext cx="347472" cy="3840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1965960"/>
            <a:ext cx="329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956816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Poin 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1261872"/>
            <a:ext cx="4572000" cy="4983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1261872"/>
            <a:ext cx="457200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1307592"/>
            <a:ext cx="4389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▶  RINGKASAN EKSEKUTIF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1984248"/>
            <a:ext cx="109728" cy="10972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1874519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EE"/>
                </a:solidFill>
                <a:latin typeface="Calibri"/>
              </a:rPr>
              <a:t>Laporan ini merangkum performa
operasional jaringan Telkomsel.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2734056"/>
            <a:ext cx="109728" cy="10972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99248" y="2624327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EE"/>
                </a:solidFill>
                <a:latin typeface="Calibri"/>
              </a:rPr>
              <a:t>Data dianalisis secara otomatis
dari sumber CSV internal.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3483863"/>
            <a:ext cx="109728" cy="10972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9248" y="3374135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EE"/>
                </a:solidFill>
                <a:latin typeface="Calibri"/>
              </a:rPr>
              <a:t>Visualisasi grafik tersedia di
Slide 04.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4233672"/>
            <a:ext cx="109728" cy="10972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99248" y="4123944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EE"/>
                </a:solidFill>
                <a:latin typeface="Calibri"/>
              </a:rPr>
              <a:t>Tabel data lengkap tersedia di
Slide 03.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4983480"/>
            <a:ext cx="109728" cy="10972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99248" y="4873752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DDEE"/>
                </a:solidFill>
                <a:latin typeface="Calibri"/>
              </a:rPr>
              <a:t>Gunakan laporan ini sebagai
dasar keputusan strategis.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Tabel Data Lengkap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BBBBCC"/>
                </a:solidFill>
                <a:latin typeface="Calibri"/>
              </a:rPr>
              <a:t>Test 2x2 Grid  ·  Menampilkan baris 1–6 dari 6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22860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 i="0">
                <a:solidFill>
                  <a:srgbClr val="FF3333"/>
                </a:solidFill>
                <a:latin typeface="Calibri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BB"/>
                </a:solidFill>
                <a:latin typeface="Calibri"/>
              </a:rPr>
              <a:t>PT. Telkomsel — Connecting Indonesia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56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 i="0">
                <a:solidFill>
                  <a:srgbClr val="FF3333"/>
                </a:solidFill>
                <a:latin typeface="Calibri"/>
              </a:rPr>
              <a:t>DOKUMEN INTERNAL — RAHASIA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298448"/>
          <a:ext cx="1164031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0156"/>
                <a:gridCol w="5820156"/>
              </a:tblGrid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BULAN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VAL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  <a:latin typeface="Calibri"/>
                        </a:rPr>
                        <a:t>145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  <a:latin typeface="Calibri"/>
                        </a:rPr>
                        <a:t>132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  <a:latin typeface="Calibri"/>
                        </a:rPr>
                        <a:t>Mei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  <a:latin typeface="Calibri"/>
                        </a:rPr>
                        <a:t>Jun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  <a:latin typeface="Calibri"/>
                        </a:rPr>
                        <a:t>178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Visualisasi &amp; Analisis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BBBBCC"/>
                </a:solidFill>
                <a:latin typeface="Calibri"/>
              </a:rPr>
              <a:t>Test 2x2 Grid  ·  25 Mei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22860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 i="0">
                <a:solidFill>
                  <a:srgbClr val="FF3333"/>
                </a:solidFill>
                <a:latin typeface="Calibri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BB"/>
                </a:solidFill>
                <a:latin typeface="Calibri"/>
              </a:rPr>
              <a:t>PT. Telkomsel — Connecting Indonesia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56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 i="0">
                <a:solidFill>
                  <a:srgbClr val="FF3333"/>
                </a:solidFill>
                <a:latin typeface="Calibri"/>
              </a:rPr>
              <a:t>DOKUMEN INTERNAL — RAHASIA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61872"/>
            <a:ext cx="7589520" cy="49834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046720" y="1261872"/>
            <a:ext cx="3886200" cy="4983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261872"/>
            <a:ext cx="3886200" cy="47548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307592"/>
            <a:ext cx="3703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▶  INSIGHT &amp; ANALISIS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DDEE"/>
                </a:solidFill>
                <a:latin typeface="Calibri"/>
              </a:rPr>
              <a:t>Analisis.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5760720"/>
            <a:ext cx="3566160" cy="36576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309360"/>
            <a:ext cx="7589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6B7B8D"/>
                </a:solidFill>
                <a:latin typeface="Calibri"/>
              </a:rPr>
              <a:t>Gambar: Test Chart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Lampiran: Chart Penjualan Q1  ·  Coverage Regional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BBBBCC"/>
                </a:solidFill>
                <a:latin typeface="Calibri"/>
              </a:rPr>
              <a:t>Test 2x2 Grid  ·  25 Mei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22860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 i="0">
                <a:solidFill>
                  <a:srgbClr val="FF3333"/>
                </a:solidFill>
                <a:latin typeface="Calibri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BB"/>
                </a:solidFill>
                <a:latin typeface="Calibri"/>
              </a:rPr>
              <a:t>PT. Telkomsel — Connecting Indonesia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56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 i="0">
                <a:solidFill>
                  <a:srgbClr val="FF3333"/>
                </a:solidFill>
                <a:latin typeface="Calibri"/>
              </a:rPr>
              <a:t>DOKUMEN INTERNAL — RAHASIA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161288"/>
            <a:ext cx="7315200" cy="2688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387" y="1298448"/>
            <a:ext cx="3862425" cy="241401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315200" y="1161288"/>
            <a:ext cx="4873752" cy="268833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1161288"/>
            <a:ext cx="4873752" cy="4572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1325880"/>
            <a:ext cx="347472" cy="347472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2944" y="1335024"/>
            <a:ext cx="32918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1755648"/>
            <a:ext cx="4416552" cy="1021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Chart Penjualan Q1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3800" y="2559222"/>
            <a:ext cx="4416552" cy="27432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2668950"/>
            <a:ext cx="4416552" cy="1043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E0E0"/>
                </a:solidFill>
                <a:latin typeface="Calibri"/>
              </a:rPr>
              <a:t>Penjualan Q1 naik 15% YoY.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3849624"/>
            <a:ext cx="12188952" cy="36576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849624"/>
            <a:ext cx="4873752" cy="268833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849624"/>
            <a:ext cx="4873752" cy="4572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4014216"/>
            <a:ext cx="347472" cy="347472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" y="4023360"/>
            <a:ext cx="32918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4443984"/>
            <a:ext cx="4416552" cy="1021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Coverage Regional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5247558"/>
            <a:ext cx="4416552" cy="27432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5357286"/>
            <a:ext cx="4416552" cy="1043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E0E0"/>
                </a:solidFill>
                <a:latin typeface="Calibri"/>
              </a:rPr>
              <a:t>Coverage 4G mencapai 98% di Jawa.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73752" y="3849624"/>
            <a:ext cx="7315200" cy="2688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139" y="3986784"/>
            <a:ext cx="3862425" cy="24140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Lampiran: Tren Pelanggan  ·  KPI Jaringan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BBBBCC"/>
                </a:solidFill>
                <a:latin typeface="Calibri"/>
              </a:rPr>
              <a:t>Test 2x2 Grid  ·  25 Mei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22860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 i="0">
                <a:solidFill>
                  <a:srgbClr val="FF3333"/>
                </a:solidFill>
                <a:latin typeface="Calibri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BB"/>
                </a:solidFill>
                <a:latin typeface="Calibri"/>
              </a:rPr>
              <a:t>PT. Telkomsel — Connecting Indonesia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56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 i="0">
                <a:solidFill>
                  <a:srgbClr val="FF3333"/>
                </a:solidFill>
                <a:latin typeface="Calibri"/>
              </a:rPr>
              <a:t>DOKUMEN INTERNAL — RAHASIA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161288"/>
            <a:ext cx="7315200" cy="2688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387" y="1298448"/>
            <a:ext cx="3862425" cy="241401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315200" y="1161288"/>
            <a:ext cx="4873752" cy="268833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1161288"/>
            <a:ext cx="4873752" cy="4572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1325880"/>
            <a:ext cx="347472" cy="347472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2944" y="1335024"/>
            <a:ext cx="32918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1755648"/>
            <a:ext cx="4416552" cy="1021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Tren Pelanggan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3800" y="2559222"/>
            <a:ext cx="4416552" cy="27432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2668950"/>
            <a:ext cx="4416552" cy="1043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E0E0"/>
                </a:solidFill>
                <a:latin typeface="Calibri"/>
              </a:rPr>
              <a:t>Akuisisi +12% vs kuartal sebelumnya.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3849624"/>
            <a:ext cx="12188952" cy="36576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849624"/>
            <a:ext cx="4873752" cy="268833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849624"/>
            <a:ext cx="4873752" cy="4572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4014216"/>
            <a:ext cx="347472" cy="347472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" y="4023360"/>
            <a:ext cx="32918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4443984"/>
            <a:ext cx="4416552" cy="1021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KPI Jaringan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5247558"/>
            <a:ext cx="4416552" cy="27432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5357286"/>
            <a:ext cx="4416552" cy="1043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E0E0"/>
                </a:solidFill>
                <a:latin typeface="Calibri"/>
              </a:rPr>
              <a:t>Uptime jaringan 99.95% semester ini.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73752" y="3849624"/>
            <a:ext cx="7315200" cy="2688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139" y="3986784"/>
            <a:ext cx="3862425" cy="24140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10972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Lampiran: Gambar Ke-5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BBBBCC"/>
                </a:solidFill>
                <a:latin typeface="Calibri"/>
              </a:rPr>
              <a:t>Test 2x2 Grid  ·  25 Mei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22860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 i="0">
                <a:solidFill>
                  <a:srgbClr val="FF3333"/>
                </a:solidFill>
                <a:latin typeface="Calibri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5624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BB"/>
                </a:solidFill>
                <a:latin typeface="Calibri"/>
              </a:rPr>
              <a:t>PT. Telkomsel — Connecting Indonesia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5624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 i="0">
                <a:solidFill>
                  <a:srgbClr val="FF3333"/>
                </a:solidFill>
                <a:latin typeface="Calibri"/>
              </a:rPr>
              <a:t>DOKUMEN INTERNAL — RAHASIA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161288"/>
            <a:ext cx="7315200" cy="2688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387" y="1298448"/>
            <a:ext cx="3862425" cy="241401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315200" y="1161288"/>
            <a:ext cx="4873752" cy="268833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1161288"/>
            <a:ext cx="4873752" cy="4572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1325880"/>
            <a:ext cx="347472" cy="347472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2944" y="1335024"/>
            <a:ext cx="32918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1755648"/>
            <a:ext cx="4416552" cy="1021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Gambar Ke-5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3800" y="2559222"/>
            <a:ext cx="4416552" cy="27432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2668950"/>
            <a:ext cx="4416552" cy="1043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E0E0"/>
                </a:solidFill>
                <a:latin typeface="Calibri"/>
              </a:rPr>
              <a:t>Satu gambar tanpa pasangan.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3849624"/>
            <a:ext cx="12188952" cy="36576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849624"/>
            <a:ext cx="12188952" cy="2688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965192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888899"/>
                </a:solidFill>
                <a:latin typeface="Calibri"/>
              </a:rPr>
              <a:t>PT. Telkomsel  ·  Connecting Indonesia  ·  Dokumen Internal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58968" y="0"/>
            <a:ext cx="64008" cy="6858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74320"/>
            <a:ext cx="4114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TELKOMSEL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4124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FFCCCC"/>
                </a:solidFill>
                <a:latin typeface="Calibri"/>
              </a:rPr>
              <a:t>Connecting Indonesia · 4G / 5G Network Excellence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4389120" cy="4572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Terima kasih.
Laporan ini disusun secara otomatis menggunakan Report Automator berbasis data CSV operasional Telkomsel.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65760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1">
                <a:solidFill>
                  <a:srgbClr val="FFC400"/>
                </a:solidFill>
                <a:latin typeface="Calibri"/>
              </a:rPr>
              <a:t>"Leading in Digital Connectivity"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989320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solidFill>
                  <a:srgbClr val="FFCCCC"/>
                </a:solidFill>
                <a:latin typeface="Calibri"/>
              </a:rPr>
              <a:t>Dokumen ini bersifat RAHASIA. Hanya untuk keperluan internal PT. Telkomsel.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457200"/>
            <a:ext cx="6126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990000"/>
                </a:solidFill>
                <a:latin typeface="Calibri"/>
              </a:rPr>
              <a:t>Ringkasan Dokumen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005840"/>
            <a:ext cx="5943600" cy="45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1234440"/>
            <a:ext cx="60350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0448" y="1289304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B8D"/>
                </a:solidFill>
                <a:latin typeface="Calibri"/>
              </a:rPr>
              <a:t>Judul Laporan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1527048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Test 2x2 Grid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2039112"/>
            <a:ext cx="60350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0448" y="2093976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B8D"/>
                </a:solidFill>
                <a:latin typeface="Calibri"/>
              </a:rPr>
              <a:t>Tanggal Dikeluarkan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0448" y="2331720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25 Mei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2843784"/>
            <a:ext cx="60350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0448" y="2898648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B8D"/>
                </a:solidFill>
                <a:latin typeface="Calibri"/>
              </a:rPr>
              <a:t>Disusun Oleh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3136391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Dev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3648456"/>
            <a:ext cx="60350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70448" y="3703320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B8D"/>
                </a:solidFill>
                <a:latin typeface="Calibri"/>
              </a:rPr>
              <a:t>Diklasifikasikan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0448" y="3941063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RAHASIA — INTERNAL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4453128"/>
            <a:ext cx="60350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70448" y="4507992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B8D"/>
                </a:solidFill>
                <a:latin typeface="Calibri"/>
              </a:rPr>
              <a:t>Dibuat Dengan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0448" y="4745736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Telkomsel Report Automator v2.0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5257800"/>
            <a:ext cx="60350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0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70448" y="5312664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B8D"/>
                </a:solidFill>
                <a:latin typeface="Calibri"/>
              </a:rPr>
              <a:t>Total Slide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70448" y="5550408"/>
            <a:ext cx="5760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8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